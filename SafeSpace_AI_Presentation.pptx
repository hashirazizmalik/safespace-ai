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4F46E5"/>
                </a:solidFill>
              </a:rPr>
              <a:t>SafeSpace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Can AI Help Detect Mental Health Struggles?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11247120" cy="254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8C8D8"/>
                </a:solidFill>
              </a:rPr>
              <a:t>Machine Learning-Based Mental Health Classification from Social Media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70"/>
                </a:solidFill>
              </a:rPr>
              <a:t>Hashir Aziz Malik  |  BS Data Science  |  IMSciences, Peshawar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F77DD"/>
                </a:solidFill>
              </a:rPr>
              <a:t>github.com/hashirazizmalik/safespace-ai   •   safespace-ai-nu.vercel.app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Mental Health Crisis Nobody Talks About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16459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645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85A30"/>
                </a:solidFill>
              </a:rPr>
              <a:t>1 in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people globally live with a mental disorder  (WHO, 2022)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303520" cy="16459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73152" cy="1645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85A30"/>
                </a:solidFill>
              </a:rP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of cases go untreated in low-to-middle income countries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303520" cy="16459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73152" cy="1645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85A30"/>
                </a:solidFill>
              </a:rPr>
              <a:t>Stigma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prevents most people from ever seeking help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303520" cy="16459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73152" cy="1645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69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85A30"/>
                </a:solidFill>
              </a:rPr>
              <a:t>Shortage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09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of mental health professionals worldwide is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7F77DD"/>
                </a:solidFill>
              </a:rPr>
              <a:t>Yet people DO talk — openly, anonymously — on social media.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Reddit: A Window Into Mental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51760" cy="18288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F77DD"/>
                </a:solidFill>
              </a:rPr>
              <a:t>r/depression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→ Depression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0"/>
                </a:solidFill>
              </a:rPr>
              <a:t>11,000 posts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828800"/>
            <a:ext cx="2651760" cy="18288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828800"/>
            <a:ext cx="265176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9E75"/>
                </a:solidFill>
              </a:rPr>
              <a:t>r/anxiety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→ Anxiety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0"/>
                </a:solidFill>
              </a:rPr>
              <a:t>11,000 posts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651760" cy="18288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265176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85A30"/>
                </a:solidFill>
              </a:rPr>
              <a:t>r/stress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→ Stress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0"/>
                </a:solidFill>
              </a:rPr>
              <a:t>11,000 posts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828800"/>
            <a:ext cx="2651760" cy="18288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65176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r/mentalhealth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→ Stress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0"/>
                </a:solidFill>
              </a:rPr>
              <a:t>11,000 posts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31920"/>
            <a:ext cx="11247120" cy="12801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69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1,851,580 raw posts collected  →  cleaned to  33,000  usable posts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D8"/>
                </a:solidFill>
              </a:rPr>
              <a:t>219 CSV files  |  Spanning Jan 2019 – Dec 2021  |  3 target classes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F77DD"/>
                </a:solidFill>
              </a:rPr>
              <a:t>Authentic, anonymous, naturalistic mental health language — at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SafeSpace AI — What It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651760" cy="22860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6517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F46E5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User types how they feel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Free-form text — no forms, no sign-up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920240"/>
            <a:ext cx="2651760" cy="22860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20240"/>
            <a:ext cx="265176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9E75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 analyses the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175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NLP pipeline + Logistic 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920240"/>
            <a:ext cx="2651760" cy="22860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920240"/>
            <a:ext cx="265176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77DD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Category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175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Depression / Anxiety / Stress / Normal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920240"/>
            <a:ext cx="2651760" cy="22860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920240"/>
            <a:ext cx="265176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85A30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Confidence score shown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0175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Radar chart + % per category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🛡  Key design principle: If confidence &lt; 55% → returns "Uncertain" instead of guessing wrong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F77DD"/>
                </a:solidFill>
              </a:rPr>
              <a:t>Live at: safespace-ai-nu.vercel.app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Feature Engineering: What the Model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94960" cy="41148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3949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</a:rPr>
              <a:t>TF-IDF Text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459736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10,000 features (bigrams: 1–2 words)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807208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24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Captures: "panic attack", "feel hopeless", "can't sleep"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154680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723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Fitted on cleaned + lemmatized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502152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198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Sparse matrix: (33,000 × 10,000)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5394960" cy="41148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645920"/>
            <a:ext cx="539496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9E75"/>
                </a:solidFill>
              </a:rPr>
              <a:t>Linguistic / Sentiment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2" y="2459736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VADER compound score  [-1.0 → +1.0]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2807208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724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Sentence 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3154680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0723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Word 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3502152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4198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Average word length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849624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7673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First-person pronoun ratio  (I/me/my…)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Combined matrix shape:  33,000 rows  ×  10,005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Model Selection: Why Logistic Regression Won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6858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</a:rPr>
              <a:t>Macro F1: 0.699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057400"/>
            <a:ext cx="3195828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78904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✓ SELECTED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6858000" cy="100584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73152" cy="1005840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D8"/>
                </a:solidFill>
              </a:rPr>
              <a:t>Support Vector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38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70"/>
                </a:solidFill>
              </a:rPr>
              <a:t>Macro F1: ~0.68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291840"/>
            <a:ext cx="31089600" cy="320040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6858000" cy="100584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73152" cy="1005840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D8"/>
                </a:solidFill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70"/>
                </a:solidFill>
              </a:rPr>
              <a:t>Macro F1: ~0.65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526280"/>
            <a:ext cx="29718000" cy="320040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1737360"/>
            <a:ext cx="4114800" cy="36576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1737360"/>
            <a:ext cx="41148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87451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</a:rPr>
              <a:t>Why LR?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54111" y="2551176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Highest F1 on sparse TF-IDF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1" y="2898648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816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Native predict_proba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4111" y="3246120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1638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Sub-second inference (serverless)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1" y="3593592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5112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Fully interpretable weights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54111" y="3941064"/>
            <a:ext cx="73152" cy="73152"/>
          </a:xfrm>
          <a:prstGeom prst="rect">
            <a:avLst/>
          </a:prstGeom>
          <a:solidFill>
            <a:srgbClr val="C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8587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No GPU required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70"/>
                </a:solidFill>
              </a:rPr>
              <a:t>Linear models outperform complex models on high-dimensional sparse text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Well Does It Work?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05156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6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6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6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76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10515600" cy="5943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54864" cy="59436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53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Anxiety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53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53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53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53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2,200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10515600" cy="5943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063240"/>
            <a:ext cx="54864" cy="59436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139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Depression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139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139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39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139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2,200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10515600" cy="5943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54864" cy="59436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25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825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825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25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825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2,200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0515600" cy="5943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54864" cy="594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11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Macro Avg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511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511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511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0.693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511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8D8"/>
                </a:solidFill>
              </a:rPr>
              <a:t>6,600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11887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349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0"/>
                </a:solidFill>
              </a:rPr>
              <a:t>Accuracy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349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9E75"/>
                </a:solidFill>
              </a:rPr>
              <a:t>0.91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0"/>
                </a:solidFill>
              </a:rPr>
              <a:t>Anxiety AUC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349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77DD"/>
                </a:solidFill>
              </a:rPr>
              <a:t>0.84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0"/>
                </a:solidFill>
              </a:rPr>
              <a:t>Depression AUC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349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85A30"/>
                </a:solidFill>
              </a:rPr>
              <a:t>0.81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0"/>
                </a:solidFill>
              </a:rPr>
              <a:t>Stress 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Being Honest When the Model Is Unsure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6858000" cy="201168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68580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D8"/>
                </a:solidFill>
              </a:rPr>
              <a:t>if confidence &lt; 55%: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D9E75"/>
                </a:solidFill>
              </a:rPr>
              <a:t>    return "Uncertain"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D8"/>
                </a:solidFill>
              </a:rPr>
              <a:t>else: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D9E75"/>
                </a:solidFill>
              </a:rPr>
              <a:t>    return predicted_category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645920"/>
            <a:ext cx="4206240" cy="201168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645920"/>
            <a:ext cx="420624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1945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In mental health AI, a confident wrong answer is
worse than admitting uncertainty. Depression and
Stress language overlaps — the model genuinely
cannot always tell the difference.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Rule-Based Pre-filters (before ML model runs)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Single neutral word  (e.g. "hi", "hello")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</a:rPr>
              <a:t>→  Neutral greeting /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8D8"/>
                </a:solidFill>
              </a:rPr>
              <a:t>Short, positive text  (VADER ≥ 0.6, ≤ 3 words, no distress keywords)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</a:rPr>
              <a:t>→  Positive / Joy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F5C518"/>
                </a:solidFill>
              </a:rPr>
              <a:t>"Better to say I don't know than to be confidently wrong."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71323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73152" cy="713232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1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F77DD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551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Vanilla JS + Plotly.js radar charts + chat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42032"/>
            <a:ext cx="11247120" cy="71323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42032"/>
            <a:ext cx="73152" cy="7132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055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055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Flask 3.1  |  scikit-learn 1.8  |  NLTK 3.9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92424"/>
            <a:ext cx="11247120" cy="71323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92424"/>
            <a:ext cx="73152" cy="71323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5592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9E75"/>
                </a:solidFill>
              </a:rPr>
              <a:t>ML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5592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TF-IDF (10K bigrams)  +  VADER  +  LR classifier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42816"/>
            <a:ext cx="11247120" cy="71323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42816"/>
            <a:ext cx="73152" cy="71323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063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5A30"/>
                </a:solidFill>
              </a:rP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30631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620 KB .joblib model files  |  No 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93208"/>
            <a:ext cx="11247120" cy="71323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93208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567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1567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8D8"/>
                </a:solidFill>
              </a:rPr>
              <a:t>Vercel serverless  |  Auto-deploy from GitHub  |  HTTPS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70"/>
                </a:solidFill>
              </a:rPr>
              <a:t>NLTK corpora downloaded to /tmp at cold start — Vercel read-only filesystem workaround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Honest Assessment: What It Can't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394960" cy="16459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1645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5A30"/>
                </a:solidFill>
              </a:rPr>
              <a:t>No 'Normal' class in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The ML model never saw neutral text — rule-based workaround only. A structural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394960" cy="16459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73152" cy="1645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5A30"/>
                </a:solidFill>
              </a:rPr>
              <a:t>Depression ↔ Stress 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These two classes share heavy lexical overlap. The model confuses them — this is a fundamental NLP challenge.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394960" cy="16459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73152" cy="1645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5A30"/>
                </a:solidFill>
              </a:rPr>
              <a:t>Reddit-only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39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Trained on English Reddit posts. May underperform on formal writing, spoken language, or non-English text.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394960" cy="164592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73152" cy="1645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5A30"/>
                </a:solidFill>
              </a:rPr>
              <a:t>Not a clinical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39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This is an awareness and reflection tool ONLY. Not a substitute for professional diagnosis or treatment.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99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Road to Better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54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75895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73152" cy="7589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9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551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Fine-tune DistilBERT / MentalBERT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551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Expected +20–30% F1. Context-aware. Would require migration from Vercel to Render/Railway.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87752"/>
            <a:ext cx="11247120" cy="75895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87752"/>
            <a:ext cx="73152" cy="7589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89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9E75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512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Add Normal class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5125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Incorporate AskReddit or neutral news posts so the ML model learns what 'Normal' actually looks like.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83864"/>
            <a:ext cx="11247120" cy="75895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83864"/>
            <a:ext cx="73152" cy="758952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854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77DD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5473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Multilingual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547364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Urdu, Arabic, and other languages to serve a global South Asian and Middle Eastern audience.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79976"/>
            <a:ext cx="11247120" cy="75895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79976"/>
            <a:ext cx="73152" cy="75895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81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85A30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4347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Crisis detection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443476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A dedicated high-sensitivity classifier for suicide ideation with immediate resource referral.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76088"/>
            <a:ext cx="11247120" cy="75895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276088"/>
            <a:ext cx="73152" cy="7589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77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395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Longitudinal mood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33958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Allow returning users to track emotional trends over time — turning a classifier into a wellness journal.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F46E5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254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212080" cy="12801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1280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46E5"/>
                </a:solidFill>
              </a:rPr>
              <a:t>69.3%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Macro F1 — competitive for a classical NLP model on 3-class mental health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212080" cy="12801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73152" cy="1280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46E5"/>
                </a:solidFill>
              </a:rPr>
              <a:t>620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042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Total model size — deployable on serverless without GPU infrastructure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5212080" cy="12801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73152" cy="1280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46E5"/>
                </a:solidFill>
              </a:rPr>
              <a:t>&lt; 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Inference latency — real-time predictions in the browser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212080" cy="1280160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73152" cy="1280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91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46E5"/>
                </a:solidFill>
              </a:rPr>
              <a:t>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587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C8D8"/>
                </a:solidFill>
              </a:rPr>
              <a:t>Fully open-source at github.com/hashirazizmalik/safespace-ai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C8C8D8"/>
                </a:solidFill>
              </a:rPr>
              <a:t>"Technology cannot replace human connection —
but it can open the door."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0"/>
                </a:solidFill>
              </a:rPr>
              <a:t>Hashir Aziz Malik  |  BS Data Science  |  IMSciences  |  bsds.235301955@imsciences.edu.pk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