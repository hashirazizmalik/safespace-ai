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5DA9A4-CF45-4994-A53D-A834D5DC5D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3EA0F09-A896-43F6-B174-140742F6ED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EE59340-1317-4BB1-95A6-2A6D7F0826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67F97CE-404C-49C6-A591-DBD8D70608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5C21E6B-3014-4BFA-A106-E837132DA0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52C93DD-64DB-495F-8194-CE0B3A711C8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493C24A-9BE1-4174-81B5-7710A900EC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A26FC831-2253-42E1-92AD-815EE6E3E7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DC77F4A-C7AC-4AB1-8E1C-610AAA20F0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F1BA852-9D0A-4160-A322-CD088270C3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458C7DEF-3FAD-4815-9E3E-54E5A7C028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95144D-9330-4660-8A56-C51C069D34A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99B037-2DAA-4D6D-A84F-84104CAF9A3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009B5B-D79D-486D-9CB0-6FD91E1AB6D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4A0F71-60D4-4D29-8031-0EE1C142AA1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to 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60BE39-47E8-4D0B-AEED-F979DAF08C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9791A8-79BB-49A4-96E1-BCB15D8BC60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02A01E-D14C-4D00-93CA-B51EAD3F9C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F43FDC-7084-4C2D-B274-B0A5ED0D77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EC4B7C-8BE2-464F-9A63-B46890615F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C63F258-B1DD-4834-BA22-4C2BB048C6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92A9AB-593B-4598-9057-98E595C24E4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5436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6803280"/>
            <a:ext cx="12188520" cy="5436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1645920"/>
            <a:ext cx="12188520" cy="3200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914400" y="914400"/>
            <a:ext cx="100580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4f46e5"/>
                </a:solidFill>
                <a:latin typeface="Calibri"/>
              </a:rPr>
              <a:t>SafeSpace AI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914400" y="1828800"/>
            <a:ext cx="100580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600" spc="-1" strike="noStrike">
                <a:solidFill>
                  <a:srgbClr val="ffffff"/>
                </a:solidFill>
                <a:latin typeface="Calibri"/>
              </a:rPr>
              <a:t>Can AI Help Detect Mental Health Struggles?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457200" y="2606040"/>
            <a:ext cx="11246760" cy="252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914400" y="2743200"/>
            <a:ext cx="10058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600" spc="-1" strike="noStrike">
                <a:solidFill>
                  <a:srgbClr val="c8c8d8"/>
                </a:solidFill>
                <a:latin typeface="Calibri"/>
              </a:rPr>
              <a:t>Machine Learning-Based Mental Health Classification from Social Media Text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914400" y="5029200"/>
            <a:ext cx="10058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570"/>
                </a:solidFill>
                <a:latin typeface="Calibri"/>
              </a:rPr>
              <a:t>Hashir Aziz Malik &amp; Suleman Abid |  BS Data Science  |  IMSciences, Peshawar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914400" y="5486400"/>
            <a:ext cx="1005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7f77dd"/>
                </a:solidFill>
                <a:latin typeface="Calibri"/>
              </a:rPr>
              <a:t>github.com/hashirazizmalik/safespace-ai   •   safespace-ai-nu.vercel.app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THE PROBLEM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The Mental Health Crisis Nobody Talks About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6"/>
          <p:cNvSpPr/>
          <p:nvPr/>
        </p:nvSpPr>
        <p:spPr>
          <a:xfrm>
            <a:off x="457200" y="1828800"/>
            <a:ext cx="530316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7"/>
          <p:cNvSpPr/>
          <p:nvPr/>
        </p:nvSpPr>
        <p:spPr>
          <a:xfrm>
            <a:off x="457200" y="182880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640080" y="1965960"/>
            <a:ext cx="4571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d85a30"/>
                </a:solidFill>
                <a:latin typeface="Calibri"/>
              </a:rPr>
              <a:t>1 in 8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640080" y="2606040"/>
            <a:ext cx="4937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people globally live with a mental disorder  (WHO, 2022)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Rectangle 10"/>
          <p:cNvSpPr/>
          <p:nvPr/>
        </p:nvSpPr>
        <p:spPr>
          <a:xfrm>
            <a:off x="6309360" y="1828800"/>
            <a:ext cx="530316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Rectangle 11"/>
          <p:cNvSpPr/>
          <p:nvPr/>
        </p:nvSpPr>
        <p:spPr>
          <a:xfrm>
            <a:off x="6309360" y="182880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6492240" y="1965960"/>
            <a:ext cx="4571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d85a30"/>
                </a:solidFill>
                <a:latin typeface="Calibri"/>
              </a:rPr>
              <a:t>75%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Box 13"/>
          <p:cNvSpPr/>
          <p:nvPr/>
        </p:nvSpPr>
        <p:spPr>
          <a:xfrm>
            <a:off x="6492240" y="2606040"/>
            <a:ext cx="4937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of cases go untreated in low-to-middle income countries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Rectangle 14"/>
          <p:cNvSpPr/>
          <p:nvPr/>
        </p:nvSpPr>
        <p:spPr>
          <a:xfrm>
            <a:off x="457200" y="3931920"/>
            <a:ext cx="530316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ectangle 15"/>
          <p:cNvSpPr/>
          <p:nvPr/>
        </p:nvSpPr>
        <p:spPr>
          <a:xfrm>
            <a:off x="457200" y="393192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640080" y="4069080"/>
            <a:ext cx="4571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d85a30"/>
                </a:solidFill>
                <a:latin typeface="Calibri"/>
              </a:rPr>
              <a:t>Stigma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17"/>
          <p:cNvSpPr/>
          <p:nvPr/>
        </p:nvSpPr>
        <p:spPr>
          <a:xfrm>
            <a:off x="640080" y="4709160"/>
            <a:ext cx="4937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prevents most people from ever seeking help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Rectangle 18"/>
          <p:cNvSpPr/>
          <p:nvPr/>
        </p:nvSpPr>
        <p:spPr>
          <a:xfrm>
            <a:off x="6309360" y="3931920"/>
            <a:ext cx="530316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Rectangle 19"/>
          <p:cNvSpPr/>
          <p:nvPr/>
        </p:nvSpPr>
        <p:spPr>
          <a:xfrm>
            <a:off x="6309360" y="393192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20"/>
          <p:cNvSpPr/>
          <p:nvPr/>
        </p:nvSpPr>
        <p:spPr>
          <a:xfrm>
            <a:off x="6492240" y="4069080"/>
            <a:ext cx="4571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d85a30"/>
                </a:solidFill>
                <a:latin typeface="Calibri"/>
              </a:rPr>
              <a:t>Shortage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21"/>
          <p:cNvSpPr/>
          <p:nvPr/>
        </p:nvSpPr>
        <p:spPr>
          <a:xfrm>
            <a:off x="6492240" y="4709160"/>
            <a:ext cx="4937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of mental health professionals worldwide is critical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Box 22"/>
          <p:cNvSpPr/>
          <p:nvPr/>
        </p:nvSpPr>
        <p:spPr>
          <a:xfrm>
            <a:off x="457200" y="603504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i="1" lang="en-US" sz="1500" spc="-1" strike="noStrike">
                <a:solidFill>
                  <a:srgbClr val="7f77dd"/>
                </a:solidFill>
                <a:latin typeface="Calibri"/>
              </a:rPr>
              <a:t>Yet people DO talk — openly, anonymously — on social media.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THE DATA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Reddit: A Window Into Mental Health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Rectangle 6"/>
          <p:cNvSpPr/>
          <p:nvPr/>
        </p:nvSpPr>
        <p:spPr>
          <a:xfrm>
            <a:off x="457200" y="1828800"/>
            <a:ext cx="2651400" cy="1828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Rectangle 7"/>
          <p:cNvSpPr/>
          <p:nvPr/>
        </p:nvSpPr>
        <p:spPr>
          <a:xfrm>
            <a:off x="457200" y="1828800"/>
            <a:ext cx="2651400" cy="5436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594360" y="1965960"/>
            <a:ext cx="2377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7f77dd"/>
                </a:solidFill>
                <a:latin typeface="Calibri"/>
              </a:rPr>
              <a:t>r/depression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Box 9"/>
          <p:cNvSpPr/>
          <p:nvPr/>
        </p:nvSpPr>
        <p:spPr>
          <a:xfrm>
            <a:off x="594360" y="2468880"/>
            <a:ext cx="2377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→ </a:t>
            </a: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Depression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94360" y="2834640"/>
            <a:ext cx="237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570"/>
                </a:solidFill>
                <a:latin typeface="Calibri"/>
              </a:rPr>
              <a:t>11,000 posts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Rectangle 11"/>
          <p:cNvSpPr/>
          <p:nvPr/>
        </p:nvSpPr>
        <p:spPr>
          <a:xfrm>
            <a:off x="3291840" y="1828800"/>
            <a:ext cx="2651400" cy="1828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Rectangle 12"/>
          <p:cNvSpPr/>
          <p:nvPr/>
        </p:nvSpPr>
        <p:spPr>
          <a:xfrm>
            <a:off x="3291840" y="1828800"/>
            <a:ext cx="2651400" cy="5436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3429000" y="1965960"/>
            <a:ext cx="2377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d9e75"/>
                </a:solidFill>
                <a:latin typeface="Calibri"/>
              </a:rPr>
              <a:t>r/anxiety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3429000" y="2468880"/>
            <a:ext cx="2377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→ </a:t>
            </a: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Anxiety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3429000" y="2834640"/>
            <a:ext cx="237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570"/>
                </a:solidFill>
                <a:latin typeface="Calibri"/>
              </a:rPr>
              <a:t>11,000 posts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Rectangle 16"/>
          <p:cNvSpPr/>
          <p:nvPr/>
        </p:nvSpPr>
        <p:spPr>
          <a:xfrm>
            <a:off x="6126480" y="1828800"/>
            <a:ext cx="2651400" cy="1828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17"/>
          <p:cNvSpPr/>
          <p:nvPr/>
        </p:nvSpPr>
        <p:spPr>
          <a:xfrm>
            <a:off x="6126480" y="1828800"/>
            <a:ext cx="2651400" cy="543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6263640" y="1965960"/>
            <a:ext cx="2377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d85a30"/>
                </a:solidFill>
                <a:latin typeface="Calibri"/>
              </a:rPr>
              <a:t>r/stress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6263640" y="2468880"/>
            <a:ext cx="2377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→ </a:t>
            </a: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Stress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6263640" y="2834640"/>
            <a:ext cx="237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570"/>
                </a:solidFill>
                <a:latin typeface="Calibri"/>
              </a:rPr>
              <a:t>11,000 posts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Rectangle 21"/>
          <p:cNvSpPr/>
          <p:nvPr/>
        </p:nvSpPr>
        <p:spPr>
          <a:xfrm>
            <a:off x="8961120" y="1828800"/>
            <a:ext cx="2651400" cy="1828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22"/>
          <p:cNvSpPr/>
          <p:nvPr/>
        </p:nvSpPr>
        <p:spPr>
          <a:xfrm>
            <a:off x="8961120" y="1828800"/>
            <a:ext cx="2651400" cy="5436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3"/>
          <p:cNvSpPr/>
          <p:nvPr/>
        </p:nvSpPr>
        <p:spPr>
          <a:xfrm>
            <a:off x="9098280" y="1965960"/>
            <a:ext cx="2377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5c518"/>
                </a:solidFill>
                <a:latin typeface="Calibri"/>
              </a:rPr>
              <a:t>r/mentalhealth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24"/>
          <p:cNvSpPr/>
          <p:nvPr/>
        </p:nvSpPr>
        <p:spPr>
          <a:xfrm>
            <a:off x="9098280" y="2468880"/>
            <a:ext cx="2377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→ </a:t>
            </a: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Stress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25"/>
          <p:cNvSpPr/>
          <p:nvPr/>
        </p:nvSpPr>
        <p:spPr>
          <a:xfrm>
            <a:off x="9098280" y="2834640"/>
            <a:ext cx="237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570"/>
                </a:solidFill>
                <a:latin typeface="Calibri"/>
              </a:rPr>
              <a:t>11,000 posts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Rectangle 26"/>
          <p:cNvSpPr/>
          <p:nvPr/>
        </p:nvSpPr>
        <p:spPr>
          <a:xfrm>
            <a:off x="457200" y="3931920"/>
            <a:ext cx="11246760" cy="1279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7"/>
          <p:cNvSpPr/>
          <p:nvPr/>
        </p:nvSpPr>
        <p:spPr>
          <a:xfrm>
            <a:off x="731520" y="4069080"/>
            <a:ext cx="1097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1,851,580 raw posts collected  →  cleaned to  33,000  usable posts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28"/>
          <p:cNvSpPr/>
          <p:nvPr/>
        </p:nvSpPr>
        <p:spPr>
          <a:xfrm>
            <a:off x="731520" y="4572000"/>
            <a:ext cx="1097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c8c8d8"/>
                </a:solidFill>
                <a:latin typeface="Calibri"/>
              </a:rPr>
              <a:t>219 CSV files  |  Spanning Jan 2019 – Dec 2021  |  3 target classes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Box 29"/>
          <p:cNvSpPr/>
          <p:nvPr/>
        </p:nvSpPr>
        <p:spPr>
          <a:xfrm>
            <a:off x="457200" y="5943600"/>
            <a:ext cx="11246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7f77dd"/>
                </a:solidFill>
                <a:latin typeface="Calibri"/>
              </a:rPr>
              <a:t>Authentic, anonymous, naturalistic mental health language — at scale.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SOLUTION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SafeSpace AI — What It Does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Rectangle 6"/>
          <p:cNvSpPr/>
          <p:nvPr/>
        </p:nvSpPr>
        <p:spPr>
          <a:xfrm>
            <a:off x="457200" y="1920240"/>
            <a:ext cx="2651400" cy="22856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457200" y="1920240"/>
            <a:ext cx="2651400" cy="5436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640080" y="2011680"/>
            <a:ext cx="4568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4f46e5"/>
                </a:solidFill>
                <a:latin typeface="Calibri"/>
              </a:rPr>
              <a:t>1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640080" y="2560320"/>
            <a:ext cx="23313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User types how they feel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640080" y="3017520"/>
            <a:ext cx="2331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Free-form text — no forms, no sign-up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3291840" y="1920240"/>
            <a:ext cx="2651400" cy="22856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Rectangle 12"/>
          <p:cNvSpPr/>
          <p:nvPr/>
        </p:nvSpPr>
        <p:spPr>
          <a:xfrm>
            <a:off x="3291840" y="1920240"/>
            <a:ext cx="2651400" cy="5436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13"/>
          <p:cNvSpPr/>
          <p:nvPr/>
        </p:nvSpPr>
        <p:spPr>
          <a:xfrm>
            <a:off x="3474720" y="2011680"/>
            <a:ext cx="4568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d9e75"/>
                </a:solidFill>
                <a:latin typeface="Calibri"/>
              </a:rPr>
              <a:t>2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3474720" y="2560320"/>
            <a:ext cx="2331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AI analyses the text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Box 15"/>
          <p:cNvSpPr/>
          <p:nvPr/>
        </p:nvSpPr>
        <p:spPr>
          <a:xfrm>
            <a:off x="3474720" y="3017520"/>
            <a:ext cx="2331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NLP pipeline + Logistic Regression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ectangle 16"/>
          <p:cNvSpPr/>
          <p:nvPr/>
        </p:nvSpPr>
        <p:spPr>
          <a:xfrm>
            <a:off x="6126480" y="1920240"/>
            <a:ext cx="2651400" cy="22856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17"/>
          <p:cNvSpPr/>
          <p:nvPr/>
        </p:nvSpPr>
        <p:spPr>
          <a:xfrm>
            <a:off x="6126480" y="1920240"/>
            <a:ext cx="2651400" cy="5436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18"/>
          <p:cNvSpPr/>
          <p:nvPr/>
        </p:nvSpPr>
        <p:spPr>
          <a:xfrm>
            <a:off x="6309360" y="2011680"/>
            <a:ext cx="4568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7f77dd"/>
                </a:solidFill>
                <a:latin typeface="Calibri"/>
              </a:rPr>
              <a:t>3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19"/>
          <p:cNvSpPr/>
          <p:nvPr/>
        </p:nvSpPr>
        <p:spPr>
          <a:xfrm>
            <a:off x="6309360" y="2560320"/>
            <a:ext cx="2331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Category detected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20"/>
          <p:cNvSpPr/>
          <p:nvPr/>
        </p:nvSpPr>
        <p:spPr>
          <a:xfrm>
            <a:off x="6309360" y="3017520"/>
            <a:ext cx="2331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Depression / Anxiety / Stress / Normal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Rectangle 21"/>
          <p:cNvSpPr/>
          <p:nvPr/>
        </p:nvSpPr>
        <p:spPr>
          <a:xfrm>
            <a:off x="8961120" y="1920240"/>
            <a:ext cx="2651400" cy="22856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22"/>
          <p:cNvSpPr/>
          <p:nvPr/>
        </p:nvSpPr>
        <p:spPr>
          <a:xfrm>
            <a:off x="8961120" y="1920240"/>
            <a:ext cx="2651400" cy="543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3"/>
          <p:cNvSpPr/>
          <p:nvPr/>
        </p:nvSpPr>
        <p:spPr>
          <a:xfrm>
            <a:off x="9144000" y="2011680"/>
            <a:ext cx="4568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d85a30"/>
                </a:solidFill>
                <a:latin typeface="Calibri"/>
              </a:rPr>
              <a:t>4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Box 24"/>
          <p:cNvSpPr/>
          <p:nvPr/>
        </p:nvSpPr>
        <p:spPr>
          <a:xfrm>
            <a:off x="9144000" y="2560320"/>
            <a:ext cx="23313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Confidence score shown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25"/>
          <p:cNvSpPr/>
          <p:nvPr/>
        </p:nvSpPr>
        <p:spPr>
          <a:xfrm>
            <a:off x="9144000" y="3017520"/>
            <a:ext cx="2331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Radar chart + % per category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ectangle 26"/>
          <p:cNvSpPr/>
          <p:nvPr/>
        </p:nvSpPr>
        <p:spPr>
          <a:xfrm>
            <a:off x="457200" y="4572000"/>
            <a:ext cx="11246760" cy="7311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7"/>
          <p:cNvSpPr/>
          <p:nvPr/>
        </p:nvSpPr>
        <p:spPr>
          <a:xfrm>
            <a:off x="640080" y="4663440"/>
            <a:ext cx="1097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5c518"/>
                </a:solidFill>
                <a:latin typeface="Calibri"/>
              </a:rPr>
              <a:t>🛡  </a:t>
            </a:r>
            <a:r>
              <a:rPr b="1" lang="en-US" sz="1500" spc="-1" strike="noStrike">
                <a:solidFill>
                  <a:srgbClr val="f5c518"/>
                </a:solidFill>
                <a:latin typeface="Calibri"/>
              </a:rPr>
              <a:t>Key design principle: If confidence &lt; 55% → returns "Uncertain" instead of guessing wrong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28"/>
          <p:cNvSpPr/>
          <p:nvPr/>
        </p:nvSpPr>
        <p:spPr>
          <a:xfrm>
            <a:off x="457200" y="5669280"/>
            <a:ext cx="11246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7f77dd"/>
                </a:solidFill>
                <a:latin typeface="Calibri"/>
              </a:rPr>
              <a:t>Live at: safespace-ai-nu.vercel.app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FEATURES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Feature Engineering: What the Model Sees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6"/>
          <p:cNvSpPr/>
          <p:nvPr/>
        </p:nvSpPr>
        <p:spPr>
          <a:xfrm>
            <a:off x="457200" y="1645920"/>
            <a:ext cx="5394600" cy="4114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Rectangle 7"/>
          <p:cNvSpPr/>
          <p:nvPr/>
        </p:nvSpPr>
        <p:spPr>
          <a:xfrm>
            <a:off x="457200" y="1645920"/>
            <a:ext cx="5394600" cy="5436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640080" y="178308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4f46e5"/>
                </a:solidFill>
                <a:latin typeface="Calibri"/>
              </a:rPr>
              <a:t>TF-IDF Text Features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Rectangle 9"/>
          <p:cNvSpPr/>
          <p:nvPr/>
        </p:nvSpPr>
        <p:spPr>
          <a:xfrm>
            <a:off x="621720" y="24598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10"/>
          <p:cNvSpPr/>
          <p:nvPr/>
        </p:nvSpPr>
        <p:spPr>
          <a:xfrm>
            <a:off x="822960" y="23774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10,000 features (bigrams: 1–2 words)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Rectangle 11"/>
          <p:cNvSpPr/>
          <p:nvPr/>
        </p:nvSpPr>
        <p:spPr>
          <a:xfrm>
            <a:off x="621720" y="28072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12"/>
          <p:cNvSpPr/>
          <p:nvPr/>
        </p:nvSpPr>
        <p:spPr>
          <a:xfrm>
            <a:off x="822960" y="2724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Captures: "panic attack", "feel hopeless", "can't sleep"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Rectangle 13"/>
          <p:cNvSpPr/>
          <p:nvPr/>
        </p:nvSpPr>
        <p:spPr>
          <a:xfrm>
            <a:off x="621720" y="31546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14"/>
          <p:cNvSpPr/>
          <p:nvPr/>
        </p:nvSpPr>
        <p:spPr>
          <a:xfrm>
            <a:off x="822960" y="30722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Fitted on cleaned + lemmatized text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Rectangle 15"/>
          <p:cNvSpPr/>
          <p:nvPr/>
        </p:nvSpPr>
        <p:spPr>
          <a:xfrm>
            <a:off x="621720" y="35020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TextBox 16"/>
          <p:cNvSpPr/>
          <p:nvPr/>
        </p:nvSpPr>
        <p:spPr>
          <a:xfrm>
            <a:off x="822960" y="342000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Sparse matrix: (33,000 × 10,000)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Rectangle 17"/>
          <p:cNvSpPr/>
          <p:nvPr/>
        </p:nvSpPr>
        <p:spPr>
          <a:xfrm>
            <a:off x="6309360" y="1645920"/>
            <a:ext cx="5394600" cy="4114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18"/>
          <p:cNvSpPr/>
          <p:nvPr/>
        </p:nvSpPr>
        <p:spPr>
          <a:xfrm>
            <a:off x="6309360" y="1645920"/>
            <a:ext cx="5394600" cy="5436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19"/>
          <p:cNvSpPr/>
          <p:nvPr/>
        </p:nvSpPr>
        <p:spPr>
          <a:xfrm>
            <a:off x="6492240" y="1783080"/>
            <a:ext cx="502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1d9e75"/>
                </a:solidFill>
                <a:latin typeface="Calibri"/>
              </a:rPr>
              <a:t>Linguistic / Sentiment Features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Rectangle 20"/>
          <p:cNvSpPr/>
          <p:nvPr/>
        </p:nvSpPr>
        <p:spPr>
          <a:xfrm>
            <a:off x="6473880" y="24598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TextBox 21"/>
          <p:cNvSpPr/>
          <p:nvPr/>
        </p:nvSpPr>
        <p:spPr>
          <a:xfrm>
            <a:off x="6675120" y="23774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VADER compound score  [-1.0 → +1.0]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Rectangle 22"/>
          <p:cNvSpPr/>
          <p:nvPr/>
        </p:nvSpPr>
        <p:spPr>
          <a:xfrm>
            <a:off x="6473880" y="28072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23"/>
          <p:cNvSpPr/>
          <p:nvPr/>
        </p:nvSpPr>
        <p:spPr>
          <a:xfrm>
            <a:off x="6675120" y="2724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Sentence 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ectangle 24"/>
          <p:cNvSpPr/>
          <p:nvPr/>
        </p:nvSpPr>
        <p:spPr>
          <a:xfrm>
            <a:off x="6473880" y="31546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25"/>
          <p:cNvSpPr/>
          <p:nvPr/>
        </p:nvSpPr>
        <p:spPr>
          <a:xfrm>
            <a:off x="6675120" y="30722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Word 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ectangle 26"/>
          <p:cNvSpPr/>
          <p:nvPr/>
        </p:nvSpPr>
        <p:spPr>
          <a:xfrm>
            <a:off x="6473880" y="35020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27"/>
          <p:cNvSpPr/>
          <p:nvPr/>
        </p:nvSpPr>
        <p:spPr>
          <a:xfrm>
            <a:off x="6675120" y="342000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Average word length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Rectangle 28"/>
          <p:cNvSpPr/>
          <p:nvPr/>
        </p:nvSpPr>
        <p:spPr>
          <a:xfrm>
            <a:off x="6473880" y="384948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29"/>
          <p:cNvSpPr/>
          <p:nvPr/>
        </p:nvSpPr>
        <p:spPr>
          <a:xfrm>
            <a:off x="6675120" y="376740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First-person pronoun ratio  (I/me/my…)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Rectangle 30"/>
          <p:cNvSpPr/>
          <p:nvPr/>
        </p:nvSpPr>
        <p:spPr>
          <a:xfrm>
            <a:off x="457200" y="5897880"/>
            <a:ext cx="11246760" cy="54828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TextBox 31"/>
          <p:cNvSpPr/>
          <p:nvPr/>
        </p:nvSpPr>
        <p:spPr>
          <a:xfrm>
            <a:off x="640080" y="5943600"/>
            <a:ext cx="1097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Combined matrix shape:  33,000 rows  ×  10,005 features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MODEL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Model Selection: Why Logistic Regression Won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Rectangle 6"/>
          <p:cNvSpPr/>
          <p:nvPr/>
        </p:nvSpPr>
        <p:spPr>
          <a:xfrm>
            <a:off x="457200" y="1737360"/>
            <a:ext cx="6857640" cy="100548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Rectangle 7"/>
          <p:cNvSpPr/>
          <p:nvPr/>
        </p:nvSpPr>
        <p:spPr>
          <a:xfrm>
            <a:off x="457200" y="1737360"/>
            <a:ext cx="72720" cy="100548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685800" y="187452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Logistic Regression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Box 9"/>
          <p:cNvSpPr/>
          <p:nvPr/>
        </p:nvSpPr>
        <p:spPr>
          <a:xfrm>
            <a:off x="685800" y="2304360"/>
            <a:ext cx="4571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4f46e5"/>
                </a:solidFill>
                <a:latin typeface="Calibri"/>
              </a:rPr>
              <a:t>Macro F1: 0.699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Rectangle 10"/>
          <p:cNvSpPr/>
          <p:nvPr/>
        </p:nvSpPr>
        <p:spPr>
          <a:xfrm>
            <a:off x="4114800" y="2057400"/>
            <a:ext cx="319582440" cy="31968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11"/>
          <p:cNvSpPr/>
          <p:nvPr/>
        </p:nvSpPr>
        <p:spPr>
          <a:xfrm>
            <a:off x="323789040" y="2057400"/>
            <a:ext cx="13712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4f46e5"/>
                </a:solidFill>
                <a:latin typeface="Calibri"/>
              </a:rPr>
              <a:t>✓ </a:t>
            </a:r>
            <a:r>
              <a:rPr b="1" lang="en-US" sz="1300" spc="-1" strike="noStrike">
                <a:solidFill>
                  <a:srgbClr val="4f46e5"/>
                </a:solidFill>
                <a:latin typeface="Calibri"/>
              </a:rPr>
              <a:t>SELECTED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Rectangle 12"/>
          <p:cNvSpPr/>
          <p:nvPr/>
        </p:nvSpPr>
        <p:spPr>
          <a:xfrm>
            <a:off x="457200" y="2971800"/>
            <a:ext cx="6857640" cy="100548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13"/>
          <p:cNvSpPr/>
          <p:nvPr/>
        </p:nvSpPr>
        <p:spPr>
          <a:xfrm>
            <a:off x="457200" y="2971800"/>
            <a:ext cx="72720" cy="1005480"/>
          </a:xfrm>
          <a:prstGeom prst="rect">
            <a:avLst/>
          </a:prstGeom>
          <a:solidFill>
            <a:srgbClr val="5555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4"/>
          <p:cNvSpPr/>
          <p:nvPr/>
        </p:nvSpPr>
        <p:spPr>
          <a:xfrm>
            <a:off x="685800" y="310896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c8c8d8"/>
                </a:solidFill>
                <a:latin typeface="Calibri"/>
              </a:rPr>
              <a:t>Support Vector Machine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5"/>
          <p:cNvSpPr/>
          <p:nvPr/>
        </p:nvSpPr>
        <p:spPr>
          <a:xfrm>
            <a:off x="685800" y="3538800"/>
            <a:ext cx="4571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570"/>
                </a:solidFill>
                <a:latin typeface="Calibri"/>
              </a:rPr>
              <a:t>Macro F1: ~0.68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Rectangle 16"/>
          <p:cNvSpPr/>
          <p:nvPr/>
        </p:nvSpPr>
        <p:spPr>
          <a:xfrm>
            <a:off x="4114800" y="3291840"/>
            <a:ext cx="31089240" cy="319680"/>
          </a:xfrm>
          <a:prstGeom prst="rect">
            <a:avLst/>
          </a:prstGeom>
          <a:solidFill>
            <a:srgbClr val="5555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Rectangle 17"/>
          <p:cNvSpPr/>
          <p:nvPr/>
        </p:nvSpPr>
        <p:spPr>
          <a:xfrm>
            <a:off x="457200" y="4206240"/>
            <a:ext cx="6857640" cy="100548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Rectangle 18"/>
          <p:cNvSpPr/>
          <p:nvPr/>
        </p:nvSpPr>
        <p:spPr>
          <a:xfrm>
            <a:off x="457200" y="4206240"/>
            <a:ext cx="72720" cy="1005480"/>
          </a:xfrm>
          <a:prstGeom prst="rect">
            <a:avLst/>
          </a:prstGeom>
          <a:solidFill>
            <a:srgbClr val="5555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19"/>
          <p:cNvSpPr/>
          <p:nvPr/>
        </p:nvSpPr>
        <p:spPr>
          <a:xfrm>
            <a:off x="685800" y="434340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c8c8d8"/>
                </a:solidFill>
                <a:latin typeface="Calibri"/>
              </a:rPr>
              <a:t>Random Forest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Box 20"/>
          <p:cNvSpPr/>
          <p:nvPr/>
        </p:nvSpPr>
        <p:spPr>
          <a:xfrm>
            <a:off x="685800" y="4773240"/>
            <a:ext cx="4571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55570"/>
                </a:solidFill>
                <a:latin typeface="Calibri"/>
              </a:rPr>
              <a:t>Macro F1: ~0.65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ectangle 21"/>
          <p:cNvSpPr/>
          <p:nvPr/>
        </p:nvSpPr>
        <p:spPr>
          <a:xfrm>
            <a:off x="4114800" y="4526280"/>
            <a:ext cx="29717640" cy="319680"/>
          </a:xfrm>
          <a:prstGeom prst="rect">
            <a:avLst/>
          </a:prstGeom>
          <a:solidFill>
            <a:srgbClr val="5555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Rectangle 22"/>
          <p:cNvSpPr/>
          <p:nvPr/>
        </p:nvSpPr>
        <p:spPr>
          <a:xfrm>
            <a:off x="7589520" y="1737360"/>
            <a:ext cx="4114440" cy="36572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Rectangle 23"/>
          <p:cNvSpPr/>
          <p:nvPr/>
        </p:nvSpPr>
        <p:spPr>
          <a:xfrm>
            <a:off x="7589520" y="1737360"/>
            <a:ext cx="4114440" cy="5436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24"/>
          <p:cNvSpPr/>
          <p:nvPr/>
        </p:nvSpPr>
        <p:spPr>
          <a:xfrm>
            <a:off x="7772400" y="1874520"/>
            <a:ext cx="37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4f46e5"/>
                </a:solidFill>
                <a:latin typeface="Calibri"/>
              </a:rPr>
              <a:t>Why LR?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Rectangle 25"/>
          <p:cNvSpPr/>
          <p:nvPr/>
        </p:nvSpPr>
        <p:spPr>
          <a:xfrm>
            <a:off x="7754040" y="255132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26"/>
          <p:cNvSpPr/>
          <p:nvPr/>
        </p:nvSpPr>
        <p:spPr>
          <a:xfrm>
            <a:off x="7955280" y="246888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Highest F1 on sparse TF-IDF data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Rectangle 27"/>
          <p:cNvSpPr/>
          <p:nvPr/>
        </p:nvSpPr>
        <p:spPr>
          <a:xfrm>
            <a:off x="7754040" y="289872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28"/>
          <p:cNvSpPr/>
          <p:nvPr/>
        </p:nvSpPr>
        <p:spPr>
          <a:xfrm>
            <a:off x="7955280" y="281628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Native predict_proba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Rectangle 29"/>
          <p:cNvSpPr/>
          <p:nvPr/>
        </p:nvSpPr>
        <p:spPr>
          <a:xfrm>
            <a:off x="7754040" y="324612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30"/>
          <p:cNvSpPr/>
          <p:nvPr/>
        </p:nvSpPr>
        <p:spPr>
          <a:xfrm>
            <a:off x="7955280" y="316368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Sub-second inference (serverless)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Rectangle 31"/>
          <p:cNvSpPr/>
          <p:nvPr/>
        </p:nvSpPr>
        <p:spPr>
          <a:xfrm>
            <a:off x="7754040" y="359352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32"/>
          <p:cNvSpPr/>
          <p:nvPr/>
        </p:nvSpPr>
        <p:spPr>
          <a:xfrm>
            <a:off x="7955280" y="351144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Fully interpretable weights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ectangle 33"/>
          <p:cNvSpPr/>
          <p:nvPr/>
        </p:nvSpPr>
        <p:spPr>
          <a:xfrm>
            <a:off x="7754040" y="3940920"/>
            <a:ext cx="72720" cy="72720"/>
          </a:xfrm>
          <a:prstGeom prst="rect">
            <a:avLst/>
          </a:prstGeom>
          <a:solidFill>
            <a:srgbClr val="c8c8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34"/>
          <p:cNvSpPr/>
          <p:nvPr/>
        </p:nvSpPr>
        <p:spPr>
          <a:xfrm>
            <a:off x="7955280" y="3858840"/>
            <a:ext cx="34743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No GPU required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35"/>
          <p:cNvSpPr/>
          <p:nvPr/>
        </p:nvSpPr>
        <p:spPr>
          <a:xfrm>
            <a:off x="457200" y="5852160"/>
            <a:ext cx="11246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555570"/>
                </a:solidFill>
                <a:latin typeface="Calibri"/>
              </a:rPr>
              <a:t>Linear models outperform complex models on high-dimensional sparse text data.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RESULTS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How Well Does It Work?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Rectangle 6"/>
          <p:cNvSpPr/>
          <p:nvPr/>
        </p:nvSpPr>
        <p:spPr>
          <a:xfrm>
            <a:off x="457200" y="1691640"/>
            <a:ext cx="10515240" cy="59400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7"/>
          <p:cNvSpPr/>
          <p:nvPr/>
        </p:nvSpPr>
        <p:spPr>
          <a:xfrm>
            <a:off x="548640" y="17679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Box 8"/>
          <p:cNvSpPr/>
          <p:nvPr/>
        </p:nvSpPr>
        <p:spPr>
          <a:xfrm>
            <a:off x="3200400" y="17679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Precision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9"/>
          <p:cNvSpPr/>
          <p:nvPr/>
        </p:nvSpPr>
        <p:spPr>
          <a:xfrm>
            <a:off x="5029200" y="17679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Recall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10"/>
          <p:cNvSpPr/>
          <p:nvPr/>
        </p:nvSpPr>
        <p:spPr>
          <a:xfrm>
            <a:off x="6858000" y="17679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F1-Score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11"/>
          <p:cNvSpPr/>
          <p:nvPr/>
        </p:nvSpPr>
        <p:spPr>
          <a:xfrm>
            <a:off x="8869680" y="17679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Support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ectangle 12"/>
          <p:cNvSpPr/>
          <p:nvPr/>
        </p:nvSpPr>
        <p:spPr>
          <a:xfrm>
            <a:off x="457200" y="2377440"/>
            <a:ext cx="10515240" cy="5940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Rectangle 13"/>
          <p:cNvSpPr/>
          <p:nvPr/>
        </p:nvSpPr>
        <p:spPr>
          <a:xfrm>
            <a:off x="457200" y="2377440"/>
            <a:ext cx="54360" cy="5940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14"/>
          <p:cNvSpPr/>
          <p:nvPr/>
        </p:nvSpPr>
        <p:spPr>
          <a:xfrm>
            <a:off x="548640" y="24537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Anxiety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15"/>
          <p:cNvSpPr/>
          <p:nvPr/>
        </p:nvSpPr>
        <p:spPr>
          <a:xfrm>
            <a:off x="3200400" y="24537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0.81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16"/>
          <p:cNvSpPr/>
          <p:nvPr/>
        </p:nvSpPr>
        <p:spPr>
          <a:xfrm>
            <a:off x="5029200" y="24537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0.75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17"/>
          <p:cNvSpPr/>
          <p:nvPr/>
        </p:nvSpPr>
        <p:spPr>
          <a:xfrm>
            <a:off x="6858000" y="24537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0.78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Box 18"/>
          <p:cNvSpPr/>
          <p:nvPr/>
        </p:nvSpPr>
        <p:spPr>
          <a:xfrm>
            <a:off x="8869680" y="24537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2,200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Rectangle 19"/>
          <p:cNvSpPr/>
          <p:nvPr/>
        </p:nvSpPr>
        <p:spPr>
          <a:xfrm>
            <a:off x="457200" y="3063240"/>
            <a:ext cx="10515240" cy="5940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Rectangle 20"/>
          <p:cNvSpPr/>
          <p:nvPr/>
        </p:nvSpPr>
        <p:spPr>
          <a:xfrm>
            <a:off x="457200" y="3063240"/>
            <a:ext cx="54360" cy="5940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21"/>
          <p:cNvSpPr/>
          <p:nvPr/>
        </p:nvSpPr>
        <p:spPr>
          <a:xfrm>
            <a:off x="548640" y="31395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Depression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Box 22"/>
          <p:cNvSpPr/>
          <p:nvPr/>
        </p:nvSpPr>
        <p:spPr>
          <a:xfrm>
            <a:off x="3200400" y="31395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Box 23"/>
          <p:cNvSpPr/>
          <p:nvPr/>
        </p:nvSpPr>
        <p:spPr>
          <a:xfrm>
            <a:off x="5029200" y="31395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0.72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Box 24"/>
          <p:cNvSpPr/>
          <p:nvPr/>
        </p:nvSpPr>
        <p:spPr>
          <a:xfrm>
            <a:off x="6858000" y="31395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0.69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Box 25"/>
          <p:cNvSpPr/>
          <p:nvPr/>
        </p:nvSpPr>
        <p:spPr>
          <a:xfrm>
            <a:off x="8869680" y="31395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2,200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ectangle 26"/>
          <p:cNvSpPr/>
          <p:nvPr/>
        </p:nvSpPr>
        <p:spPr>
          <a:xfrm>
            <a:off x="457200" y="3749040"/>
            <a:ext cx="10515240" cy="5940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Rectangle 27"/>
          <p:cNvSpPr/>
          <p:nvPr/>
        </p:nvSpPr>
        <p:spPr>
          <a:xfrm>
            <a:off x="457200" y="3749040"/>
            <a:ext cx="54360" cy="59400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28"/>
          <p:cNvSpPr/>
          <p:nvPr/>
        </p:nvSpPr>
        <p:spPr>
          <a:xfrm>
            <a:off x="548640" y="38253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Stress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Box 29"/>
          <p:cNvSpPr/>
          <p:nvPr/>
        </p:nvSpPr>
        <p:spPr>
          <a:xfrm>
            <a:off x="3200400" y="38253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0.62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Box 30"/>
          <p:cNvSpPr/>
          <p:nvPr/>
        </p:nvSpPr>
        <p:spPr>
          <a:xfrm>
            <a:off x="5029200" y="38253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Box 31"/>
          <p:cNvSpPr/>
          <p:nvPr/>
        </p:nvSpPr>
        <p:spPr>
          <a:xfrm>
            <a:off x="6858000" y="38253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32"/>
          <p:cNvSpPr/>
          <p:nvPr/>
        </p:nvSpPr>
        <p:spPr>
          <a:xfrm>
            <a:off x="8869680" y="38253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2,200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Rectangle 33"/>
          <p:cNvSpPr/>
          <p:nvPr/>
        </p:nvSpPr>
        <p:spPr>
          <a:xfrm>
            <a:off x="457200" y="4434840"/>
            <a:ext cx="10515240" cy="5940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Rectangle 34"/>
          <p:cNvSpPr/>
          <p:nvPr/>
        </p:nvSpPr>
        <p:spPr>
          <a:xfrm>
            <a:off x="457200" y="4434840"/>
            <a:ext cx="54360" cy="59400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" name="TextBox 35"/>
          <p:cNvSpPr/>
          <p:nvPr/>
        </p:nvSpPr>
        <p:spPr>
          <a:xfrm>
            <a:off x="548640" y="45111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Macro Avg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36"/>
          <p:cNvSpPr/>
          <p:nvPr/>
        </p:nvSpPr>
        <p:spPr>
          <a:xfrm>
            <a:off x="3200400" y="45111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0.70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Box 37"/>
          <p:cNvSpPr/>
          <p:nvPr/>
        </p:nvSpPr>
        <p:spPr>
          <a:xfrm>
            <a:off x="5029200" y="45111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0.69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Box 38"/>
          <p:cNvSpPr/>
          <p:nvPr/>
        </p:nvSpPr>
        <p:spPr>
          <a:xfrm>
            <a:off x="6858000" y="45111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0.693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39"/>
          <p:cNvSpPr/>
          <p:nvPr/>
        </p:nvSpPr>
        <p:spPr>
          <a:xfrm>
            <a:off x="8869680" y="4511160"/>
            <a:ext cx="228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8c8d8"/>
                </a:solidFill>
                <a:latin typeface="Calibri"/>
              </a:rPr>
              <a:t>6,600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Rectangle 40"/>
          <p:cNvSpPr/>
          <p:nvPr/>
        </p:nvSpPr>
        <p:spPr>
          <a:xfrm>
            <a:off x="457200" y="5257800"/>
            <a:ext cx="11246760" cy="11883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" name="TextBox 41"/>
          <p:cNvSpPr/>
          <p:nvPr/>
        </p:nvSpPr>
        <p:spPr>
          <a:xfrm>
            <a:off x="731520" y="5349240"/>
            <a:ext cx="2285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69%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42"/>
          <p:cNvSpPr/>
          <p:nvPr/>
        </p:nvSpPr>
        <p:spPr>
          <a:xfrm>
            <a:off x="731520" y="589788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55570"/>
                </a:solidFill>
                <a:latin typeface="Calibri"/>
              </a:rPr>
              <a:t>Accuracy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43"/>
          <p:cNvSpPr/>
          <p:nvPr/>
        </p:nvSpPr>
        <p:spPr>
          <a:xfrm>
            <a:off x="3474720" y="5349240"/>
            <a:ext cx="2285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d9e75"/>
                </a:solidFill>
                <a:latin typeface="Calibri"/>
              </a:rPr>
              <a:t>0.91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Box 44"/>
          <p:cNvSpPr/>
          <p:nvPr/>
        </p:nvSpPr>
        <p:spPr>
          <a:xfrm>
            <a:off x="3474720" y="589788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55570"/>
                </a:solidFill>
                <a:latin typeface="Calibri"/>
              </a:rPr>
              <a:t>Anxiety AUC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Box 45"/>
          <p:cNvSpPr/>
          <p:nvPr/>
        </p:nvSpPr>
        <p:spPr>
          <a:xfrm>
            <a:off x="6217920" y="5349240"/>
            <a:ext cx="2285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7f77dd"/>
                </a:solidFill>
                <a:latin typeface="Calibri"/>
              </a:rPr>
              <a:t>0.84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46"/>
          <p:cNvSpPr/>
          <p:nvPr/>
        </p:nvSpPr>
        <p:spPr>
          <a:xfrm>
            <a:off x="6217920" y="589788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55570"/>
                </a:solidFill>
                <a:latin typeface="Calibri"/>
              </a:rPr>
              <a:t>Depression AUC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47"/>
          <p:cNvSpPr/>
          <p:nvPr/>
        </p:nvSpPr>
        <p:spPr>
          <a:xfrm>
            <a:off x="8961120" y="5349240"/>
            <a:ext cx="2285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d85a30"/>
                </a:solidFill>
                <a:latin typeface="Calibri"/>
              </a:rPr>
              <a:t>0.81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Box 48"/>
          <p:cNvSpPr/>
          <p:nvPr/>
        </p:nvSpPr>
        <p:spPr>
          <a:xfrm>
            <a:off x="8961120" y="589788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55570"/>
                </a:solidFill>
                <a:latin typeface="Calibri"/>
              </a:rPr>
              <a:t>Stress AUC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DESIGN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Being Honest When the Model Is Unsure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ectangle 6"/>
          <p:cNvSpPr/>
          <p:nvPr/>
        </p:nvSpPr>
        <p:spPr>
          <a:xfrm>
            <a:off x="457200" y="1645920"/>
            <a:ext cx="6857640" cy="2011320"/>
          </a:xfrm>
          <a:prstGeom prst="rect">
            <a:avLst/>
          </a:prstGeom>
          <a:solidFill>
            <a:srgbClr val="0a0a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Rectangle 7"/>
          <p:cNvSpPr/>
          <p:nvPr/>
        </p:nvSpPr>
        <p:spPr>
          <a:xfrm>
            <a:off x="457200" y="1645920"/>
            <a:ext cx="6857640" cy="3636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TextBox 8"/>
          <p:cNvSpPr/>
          <p:nvPr/>
        </p:nvSpPr>
        <p:spPr>
          <a:xfrm>
            <a:off x="640080" y="1737360"/>
            <a:ext cx="6400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c8c8d8"/>
                </a:solidFill>
                <a:latin typeface="Calibri"/>
              </a:rPr>
              <a:t>if confidence &lt; 55%: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Box 9"/>
          <p:cNvSpPr/>
          <p:nvPr/>
        </p:nvSpPr>
        <p:spPr>
          <a:xfrm>
            <a:off x="640080" y="2148840"/>
            <a:ext cx="6400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1d9e75"/>
                </a:solidFill>
                <a:latin typeface="Calibri"/>
              </a:rPr>
              <a:t>    </a:t>
            </a:r>
            <a:r>
              <a:rPr b="0" lang="en-US" sz="1600" spc="-1" strike="noStrike">
                <a:solidFill>
                  <a:srgbClr val="1d9e75"/>
                </a:solidFill>
                <a:latin typeface="Calibri"/>
              </a:rPr>
              <a:t>return "Uncertain"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10"/>
          <p:cNvSpPr/>
          <p:nvPr/>
        </p:nvSpPr>
        <p:spPr>
          <a:xfrm>
            <a:off x="640080" y="2560320"/>
            <a:ext cx="6400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c8c8d8"/>
                </a:solidFill>
                <a:latin typeface="Calibri"/>
              </a:rPr>
              <a:t>else: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11"/>
          <p:cNvSpPr/>
          <p:nvPr/>
        </p:nvSpPr>
        <p:spPr>
          <a:xfrm>
            <a:off x="640080" y="2971800"/>
            <a:ext cx="6400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1d9e75"/>
                </a:solidFill>
                <a:latin typeface="Calibri"/>
              </a:rPr>
              <a:t>    </a:t>
            </a:r>
            <a:r>
              <a:rPr b="0" lang="en-US" sz="1600" spc="-1" strike="noStrike">
                <a:solidFill>
                  <a:srgbClr val="1d9e75"/>
                </a:solidFill>
                <a:latin typeface="Calibri"/>
              </a:rPr>
              <a:t>return predicted_category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ectangle 12"/>
          <p:cNvSpPr/>
          <p:nvPr/>
        </p:nvSpPr>
        <p:spPr>
          <a:xfrm>
            <a:off x="7498080" y="1645920"/>
            <a:ext cx="4205880" cy="201132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13"/>
          <p:cNvSpPr/>
          <p:nvPr/>
        </p:nvSpPr>
        <p:spPr>
          <a:xfrm>
            <a:off x="7498080" y="1645920"/>
            <a:ext cx="4205880" cy="5436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4"/>
          <p:cNvSpPr/>
          <p:nvPr/>
        </p:nvSpPr>
        <p:spPr>
          <a:xfrm>
            <a:off x="7680960" y="1737360"/>
            <a:ext cx="3840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5c518"/>
                </a:solidFill>
                <a:latin typeface="Calibri"/>
              </a:rPr>
              <a:t>Why this matters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Box 15"/>
          <p:cNvSpPr/>
          <p:nvPr/>
        </p:nvSpPr>
        <p:spPr>
          <a:xfrm>
            <a:off x="7680960" y="2194560"/>
            <a:ext cx="38401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In mental health AI, a confident wrong answer is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worse than admitting uncertainty. Depression and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Stress language overlaps — the model genuinely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cannot always tell the difference.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ectangle 16"/>
          <p:cNvSpPr/>
          <p:nvPr/>
        </p:nvSpPr>
        <p:spPr>
          <a:xfrm>
            <a:off x="457200" y="3840480"/>
            <a:ext cx="11246760" cy="182844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17"/>
          <p:cNvSpPr/>
          <p:nvPr/>
        </p:nvSpPr>
        <p:spPr>
          <a:xfrm>
            <a:off x="640080" y="3931920"/>
            <a:ext cx="1097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Rule-Based Pre-filters (before ML model runs)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18"/>
          <p:cNvSpPr/>
          <p:nvPr/>
        </p:nvSpPr>
        <p:spPr>
          <a:xfrm>
            <a:off x="731520" y="4389120"/>
            <a:ext cx="7772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8c8d8"/>
                </a:solidFill>
                <a:latin typeface="Calibri"/>
              </a:rPr>
              <a:t>Single neutral word  (e.g. "hi", "hello")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Box 19"/>
          <p:cNvSpPr/>
          <p:nvPr/>
        </p:nvSpPr>
        <p:spPr>
          <a:xfrm>
            <a:off x="8686800" y="4389120"/>
            <a:ext cx="2742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d9e75"/>
                </a:solidFill>
                <a:latin typeface="Calibri"/>
              </a:rPr>
              <a:t>→  </a:t>
            </a:r>
            <a:r>
              <a:rPr b="1" lang="en-US" sz="1300" spc="-1" strike="noStrike">
                <a:solidFill>
                  <a:srgbClr val="1d9e75"/>
                </a:solidFill>
                <a:latin typeface="Calibri"/>
              </a:rPr>
              <a:t>Neutral greeting / State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20"/>
          <p:cNvSpPr/>
          <p:nvPr/>
        </p:nvSpPr>
        <p:spPr>
          <a:xfrm>
            <a:off x="731520" y="4892040"/>
            <a:ext cx="7772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t>Positive / neutral text (VADER ≥ -0.1, no distress keywords)</a:t>
            </a:r>
          </a:p>
        </p:txBody>
      </p:sp>
      <p:sp>
        <p:nvSpPr>
          <p:cNvPr id="289" name="TextBox 21"/>
          <p:cNvSpPr/>
          <p:nvPr/>
        </p:nvSpPr>
        <p:spPr>
          <a:xfrm>
            <a:off x="8686800" y="4892040"/>
            <a:ext cx="2742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t>→  Positive / Joy or Normal</a:t>
            </a:r>
          </a:p>
        </p:txBody>
      </p:sp>
      <p:sp>
        <p:nvSpPr>
          <p:cNvPr id="290" name="TextBox 22"/>
          <p:cNvSpPr/>
          <p:nvPr/>
        </p:nvSpPr>
        <p:spPr>
          <a:xfrm>
            <a:off x="457200" y="5943600"/>
            <a:ext cx="11246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i="1" lang="en-US" sz="1500" spc="-1" strike="noStrike">
                <a:solidFill>
                  <a:srgbClr val="f5c518"/>
                </a:solidFill>
                <a:latin typeface="Calibri"/>
              </a:rPr>
              <a:t>"Better to say I don't know than to be confidently wrong."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TECH STACK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Technical Architecture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Rectangle 6"/>
          <p:cNvSpPr/>
          <p:nvPr/>
        </p:nvSpPr>
        <p:spPr>
          <a:xfrm>
            <a:off x="457200" y="1691640"/>
            <a:ext cx="11246760" cy="712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Rectangle 7"/>
          <p:cNvSpPr/>
          <p:nvPr/>
        </p:nvSpPr>
        <p:spPr>
          <a:xfrm>
            <a:off x="457200" y="1691640"/>
            <a:ext cx="72720" cy="7128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" name="TextBox 8"/>
          <p:cNvSpPr/>
          <p:nvPr/>
        </p:nvSpPr>
        <p:spPr>
          <a:xfrm>
            <a:off x="685800" y="1755000"/>
            <a:ext cx="2011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7f77dd"/>
                </a:solidFill>
                <a:latin typeface="Calibri"/>
              </a:rPr>
              <a:t>Frontend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9"/>
          <p:cNvSpPr/>
          <p:nvPr/>
        </p:nvSpPr>
        <p:spPr>
          <a:xfrm>
            <a:off x="2926080" y="1755000"/>
            <a:ext cx="8229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Vanilla JS + Plotly.js radar charts + chat UI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Rectangle 10"/>
          <p:cNvSpPr/>
          <p:nvPr/>
        </p:nvSpPr>
        <p:spPr>
          <a:xfrm>
            <a:off x="457200" y="2541960"/>
            <a:ext cx="11246760" cy="712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Rectangle 11"/>
          <p:cNvSpPr/>
          <p:nvPr/>
        </p:nvSpPr>
        <p:spPr>
          <a:xfrm>
            <a:off x="457200" y="2541960"/>
            <a:ext cx="72720" cy="7128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" name="TextBox 12"/>
          <p:cNvSpPr/>
          <p:nvPr/>
        </p:nvSpPr>
        <p:spPr>
          <a:xfrm>
            <a:off x="685800" y="2605680"/>
            <a:ext cx="2011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4f46e5"/>
                </a:solidFill>
                <a:latin typeface="Calibri"/>
              </a:rPr>
              <a:t>Backend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3"/>
          <p:cNvSpPr/>
          <p:nvPr/>
        </p:nvSpPr>
        <p:spPr>
          <a:xfrm>
            <a:off x="2926080" y="2605680"/>
            <a:ext cx="8229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Flask 3.1  |  scikit-learn 1.8  |  NLTK 3.9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ectangle 14"/>
          <p:cNvSpPr/>
          <p:nvPr/>
        </p:nvSpPr>
        <p:spPr>
          <a:xfrm>
            <a:off x="457200" y="3392280"/>
            <a:ext cx="11246760" cy="712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Rectangle 15"/>
          <p:cNvSpPr/>
          <p:nvPr/>
        </p:nvSpPr>
        <p:spPr>
          <a:xfrm>
            <a:off x="457200" y="3392280"/>
            <a:ext cx="72720" cy="71280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TextBox 16"/>
          <p:cNvSpPr/>
          <p:nvPr/>
        </p:nvSpPr>
        <p:spPr>
          <a:xfrm>
            <a:off x="685800" y="3456000"/>
            <a:ext cx="2011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d9e75"/>
                </a:solidFill>
                <a:latin typeface="Calibri"/>
              </a:rPr>
              <a:t>ML Pipeline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2926080" y="3456000"/>
            <a:ext cx="8229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TF-IDF (10K bigrams)  +  VADER  +  LR classifier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ectangle 18"/>
          <p:cNvSpPr/>
          <p:nvPr/>
        </p:nvSpPr>
        <p:spPr>
          <a:xfrm>
            <a:off x="457200" y="4242960"/>
            <a:ext cx="11246760" cy="712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Rectangle 19"/>
          <p:cNvSpPr/>
          <p:nvPr/>
        </p:nvSpPr>
        <p:spPr>
          <a:xfrm>
            <a:off x="457200" y="4242960"/>
            <a:ext cx="72720" cy="71280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TextBox 20"/>
          <p:cNvSpPr/>
          <p:nvPr/>
        </p:nvSpPr>
        <p:spPr>
          <a:xfrm>
            <a:off x="685800" y="4306320"/>
            <a:ext cx="2011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d85a30"/>
                </a:solidFill>
                <a:latin typeface="Calibri"/>
              </a:rPr>
              <a:t>Storage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Box 21"/>
          <p:cNvSpPr/>
          <p:nvPr/>
        </p:nvSpPr>
        <p:spPr>
          <a:xfrm>
            <a:off x="2926080" y="4306320"/>
            <a:ext cx="8229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620 KB .joblib model files  |  No database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Rectangle 22"/>
          <p:cNvSpPr/>
          <p:nvPr/>
        </p:nvSpPr>
        <p:spPr>
          <a:xfrm>
            <a:off x="457200" y="5093280"/>
            <a:ext cx="11246760" cy="712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Rectangle 23"/>
          <p:cNvSpPr/>
          <p:nvPr/>
        </p:nvSpPr>
        <p:spPr>
          <a:xfrm>
            <a:off x="457200" y="5093280"/>
            <a:ext cx="72720" cy="71280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24"/>
          <p:cNvSpPr/>
          <p:nvPr/>
        </p:nvSpPr>
        <p:spPr>
          <a:xfrm>
            <a:off x="685800" y="5156640"/>
            <a:ext cx="2011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5c518"/>
                </a:solidFill>
                <a:latin typeface="Calibri"/>
              </a:rPr>
              <a:t>Deployment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25"/>
          <p:cNvSpPr/>
          <p:nvPr/>
        </p:nvSpPr>
        <p:spPr>
          <a:xfrm>
            <a:off x="2926080" y="5156640"/>
            <a:ext cx="8229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c8c8d8"/>
                </a:solidFill>
                <a:latin typeface="Calibri"/>
              </a:rPr>
              <a:t>Vercel serverless  |  Auto-deploy from GitHub  |  HTTPS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Box 26"/>
          <p:cNvSpPr/>
          <p:nvPr/>
        </p:nvSpPr>
        <p:spPr>
          <a:xfrm>
            <a:off x="457200" y="6035040"/>
            <a:ext cx="11246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55570"/>
                </a:solidFill>
                <a:latin typeface="Calibri"/>
              </a:rPr>
              <a:t>NLTK corpora downloaded to /tmp at cold start — Vercel read-only filesystem workaround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LIMITATIONS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Honest Assessment: What It Can't Do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Rectangle 6"/>
          <p:cNvSpPr/>
          <p:nvPr/>
        </p:nvSpPr>
        <p:spPr>
          <a:xfrm>
            <a:off x="457200" y="1737360"/>
            <a:ext cx="539460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Rectangle 7"/>
          <p:cNvSpPr/>
          <p:nvPr/>
        </p:nvSpPr>
        <p:spPr>
          <a:xfrm>
            <a:off x="457200" y="173736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8"/>
          <p:cNvSpPr/>
          <p:nvPr/>
        </p:nvSpPr>
        <p:spPr>
          <a:xfrm>
            <a:off x="640080" y="1828800"/>
            <a:ext cx="5028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d85a30"/>
                </a:solidFill>
                <a:latin typeface="Calibri"/>
              </a:rPr>
              <a:t>No 'Normal' class in training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9"/>
          <p:cNvSpPr/>
          <p:nvPr/>
        </p:nvSpPr>
        <p:spPr>
          <a:xfrm>
            <a:off x="640080" y="2331720"/>
            <a:ext cx="502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The ML model never saw neutral text — rule-based workaround only. A structural gap.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Rectangle 10"/>
          <p:cNvSpPr/>
          <p:nvPr/>
        </p:nvSpPr>
        <p:spPr>
          <a:xfrm>
            <a:off x="6309360" y="1737360"/>
            <a:ext cx="539460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Rectangle 11"/>
          <p:cNvSpPr/>
          <p:nvPr/>
        </p:nvSpPr>
        <p:spPr>
          <a:xfrm>
            <a:off x="6309360" y="173736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TextBox 12"/>
          <p:cNvSpPr/>
          <p:nvPr/>
        </p:nvSpPr>
        <p:spPr>
          <a:xfrm>
            <a:off x="6492240" y="1828800"/>
            <a:ext cx="5028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d85a30"/>
                </a:solidFill>
                <a:latin typeface="Calibri"/>
              </a:rPr>
              <a:t>Depression ↔ Stress overlap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Box 13"/>
          <p:cNvSpPr/>
          <p:nvPr/>
        </p:nvSpPr>
        <p:spPr>
          <a:xfrm>
            <a:off x="6492240" y="2331720"/>
            <a:ext cx="502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These two classes share heavy lexical overlap. The model confuses them — this is a fundamental NLP challenge.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ectangle 14"/>
          <p:cNvSpPr/>
          <p:nvPr/>
        </p:nvSpPr>
        <p:spPr>
          <a:xfrm>
            <a:off x="457200" y="3749040"/>
            <a:ext cx="539460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1" name="Rectangle 15"/>
          <p:cNvSpPr/>
          <p:nvPr/>
        </p:nvSpPr>
        <p:spPr>
          <a:xfrm>
            <a:off x="457200" y="374904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16"/>
          <p:cNvSpPr/>
          <p:nvPr/>
        </p:nvSpPr>
        <p:spPr>
          <a:xfrm>
            <a:off x="640080" y="3840480"/>
            <a:ext cx="5028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d85a30"/>
                </a:solidFill>
                <a:latin typeface="Calibri"/>
              </a:rPr>
              <a:t>Reddit-only language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17"/>
          <p:cNvSpPr/>
          <p:nvPr/>
        </p:nvSpPr>
        <p:spPr>
          <a:xfrm>
            <a:off x="640080" y="4343400"/>
            <a:ext cx="502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Trained on English Reddit posts. May underperform on formal writing, spoken language, or non-English text.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ectangle 18"/>
          <p:cNvSpPr/>
          <p:nvPr/>
        </p:nvSpPr>
        <p:spPr>
          <a:xfrm>
            <a:off x="6309360" y="3749040"/>
            <a:ext cx="5394600" cy="164556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" name="Rectangle 19"/>
          <p:cNvSpPr/>
          <p:nvPr/>
        </p:nvSpPr>
        <p:spPr>
          <a:xfrm>
            <a:off x="6309360" y="3749040"/>
            <a:ext cx="72720" cy="164556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" name="TextBox 20"/>
          <p:cNvSpPr/>
          <p:nvPr/>
        </p:nvSpPr>
        <p:spPr>
          <a:xfrm>
            <a:off x="6492240" y="3840480"/>
            <a:ext cx="5028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d85a30"/>
                </a:solidFill>
                <a:latin typeface="Calibri"/>
              </a:rPr>
              <a:t>Not a clinical tool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Box 21"/>
          <p:cNvSpPr/>
          <p:nvPr/>
        </p:nvSpPr>
        <p:spPr>
          <a:xfrm>
            <a:off x="6492240" y="4343400"/>
            <a:ext cx="502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This is an awareness and reflection tool ONLY. Not a substitute for professional diagnosis or treatment.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9" name="Rectangle 2"/>
          <p:cNvSpPr/>
          <p:nvPr/>
        </p:nvSpPr>
        <p:spPr>
          <a:xfrm>
            <a:off x="457200" y="274320"/>
            <a:ext cx="1462680" cy="29232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TextBox 3"/>
          <p:cNvSpPr/>
          <p:nvPr/>
        </p:nvSpPr>
        <p:spPr>
          <a:xfrm>
            <a:off x="530280" y="299880"/>
            <a:ext cx="1371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FUTURE WORK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4"/>
          <p:cNvSpPr/>
          <p:nvPr/>
        </p:nvSpPr>
        <p:spPr>
          <a:xfrm>
            <a:off x="457200" y="68580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The Road to Better Accuracy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Rectangle 5"/>
          <p:cNvSpPr/>
          <p:nvPr/>
        </p:nvSpPr>
        <p:spPr>
          <a:xfrm>
            <a:off x="457200" y="1463040"/>
            <a:ext cx="11246760" cy="252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Rectangle 6"/>
          <p:cNvSpPr/>
          <p:nvPr/>
        </p:nvSpPr>
        <p:spPr>
          <a:xfrm>
            <a:off x="457200" y="1691640"/>
            <a:ext cx="11246760" cy="75852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7"/>
          <p:cNvSpPr/>
          <p:nvPr/>
        </p:nvSpPr>
        <p:spPr>
          <a:xfrm>
            <a:off x="457200" y="1691640"/>
            <a:ext cx="72720" cy="75852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640080" y="1793160"/>
            <a:ext cx="45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f46e5"/>
                </a:solidFill>
                <a:latin typeface="Calibri"/>
              </a:rPr>
              <a:t>01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1188720" y="1755000"/>
            <a:ext cx="3474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Fine-tune DistilBERT / MentalBERT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Box 10"/>
          <p:cNvSpPr/>
          <p:nvPr/>
        </p:nvSpPr>
        <p:spPr>
          <a:xfrm>
            <a:off x="4937760" y="1755000"/>
            <a:ext cx="6583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Expected +20–30% F1. Context-aware. Would require migration from Vercel to Render/Railway.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ectangle 11"/>
          <p:cNvSpPr/>
          <p:nvPr/>
        </p:nvSpPr>
        <p:spPr>
          <a:xfrm>
            <a:off x="457200" y="2587680"/>
            <a:ext cx="11246760" cy="75852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" name="Rectangle 12"/>
          <p:cNvSpPr/>
          <p:nvPr/>
        </p:nvSpPr>
        <p:spPr>
          <a:xfrm>
            <a:off x="457200" y="2587680"/>
            <a:ext cx="72720" cy="758520"/>
          </a:xfrm>
          <a:prstGeom prst="rect">
            <a:avLst/>
          </a:prstGeom>
          <a:solidFill>
            <a:srgbClr val="1d9e7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0" name="TextBox 13"/>
          <p:cNvSpPr/>
          <p:nvPr/>
        </p:nvSpPr>
        <p:spPr>
          <a:xfrm>
            <a:off x="640080" y="2689200"/>
            <a:ext cx="45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d9e75"/>
                </a:solidFill>
                <a:latin typeface="Calibri"/>
              </a:rPr>
              <a:t>02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14"/>
          <p:cNvSpPr/>
          <p:nvPr/>
        </p:nvSpPr>
        <p:spPr>
          <a:xfrm>
            <a:off x="1188720" y="2651400"/>
            <a:ext cx="3474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Add Normal class training data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5"/>
          <p:cNvSpPr/>
          <p:nvPr/>
        </p:nvSpPr>
        <p:spPr>
          <a:xfrm>
            <a:off x="4937760" y="2651400"/>
            <a:ext cx="6583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Incorporate AskReddit or neutral news posts so the ML model learns what 'Normal' actually looks like.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Rectangle 16"/>
          <p:cNvSpPr/>
          <p:nvPr/>
        </p:nvSpPr>
        <p:spPr>
          <a:xfrm>
            <a:off x="457200" y="3483720"/>
            <a:ext cx="11246760" cy="75852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Rectangle 17"/>
          <p:cNvSpPr/>
          <p:nvPr/>
        </p:nvSpPr>
        <p:spPr>
          <a:xfrm>
            <a:off x="457200" y="3483720"/>
            <a:ext cx="72720" cy="75852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18"/>
          <p:cNvSpPr/>
          <p:nvPr/>
        </p:nvSpPr>
        <p:spPr>
          <a:xfrm>
            <a:off x="640080" y="3585600"/>
            <a:ext cx="45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7f77dd"/>
                </a:solidFill>
                <a:latin typeface="Calibri"/>
              </a:rPr>
              <a:t>03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19"/>
          <p:cNvSpPr/>
          <p:nvPr/>
        </p:nvSpPr>
        <p:spPr>
          <a:xfrm>
            <a:off x="1188720" y="3547440"/>
            <a:ext cx="3474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Multilingual support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Box 20"/>
          <p:cNvSpPr/>
          <p:nvPr/>
        </p:nvSpPr>
        <p:spPr>
          <a:xfrm>
            <a:off x="4937760" y="3547440"/>
            <a:ext cx="6583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Urdu, Arabic, and other languages to serve a global South Asian and Middle Eastern audience.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ectangle 21"/>
          <p:cNvSpPr/>
          <p:nvPr/>
        </p:nvSpPr>
        <p:spPr>
          <a:xfrm>
            <a:off x="457200" y="4380120"/>
            <a:ext cx="11246760" cy="75852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Rectangle 22"/>
          <p:cNvSpPr/>
          <p:nvPr/>
        </p:nvSpPr>
        <p:spPr>
          <a:xfrm>
            <a:off x="457200" y="4380120"/>
            <a:ext cx="72720" cy="758520"/>
          </a:xfrm>
          <a:prstGeom prst="rect">
            <a:avLst/>
          </a:prstGeom>
          <a:solidFill>
            <a:srgbClr val="d85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" name="TextBox 23"/>
          <p:cNvSpPr/>
          <p:nvPr/>
        </p:nvSpPr>
        <p:spPr>
          <a:xfrm>
            <a:off x="640080" y="4481640"/>
            <a:ext cx="45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d85a30"/>
                </a:solidFill>
                <a:latin typeface="Calibri"/>
              </a:rPr>
              <a:t>04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Box 24"/>
          <p:cNvSpPr/>
          <p:nvPr/>
        </p:nvSpPr>
        <p:spPr>
          <a:xfrm>
            <a:off x="1188720" y="4443480"/>
            <a:ext cx="3474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Crisis detection layer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Box 25"/>
          <p:cNvSpPr/>
          <p:nvPr/>
        </p:nvSpPr>
        <p:spPr>
          <a:xfrm>
            <a:off x="4937760" y="4443480"/>
            <a:ext cx="6583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A dedicated high-sensitivity classifier for suicide ideation with immediate resource referral.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ectangle 26"/>
          <p:cNvSpPr/>
          <p:nvPr/>
        </p:nvSpPr>
        <p:spPr>
          <a:xfrm>
            <a:off x="457200" y="5276160"/>
            <a:ext cx="11246760" cy="75852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4" name="Rectangle 27"/>
          <p:cNvSpPr/>
          <p:nvPr/>
        </p:nvSpPr>
        <p:spPr>
          <a:xfrm>
            <a:off x="457200" y="5276160"/>
            <a:ext cx="72720" cy="7585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TextBox 28"/>
          <p:cNvSpPr/>
          <p:nvPr/>
        </p:nvSpPr>
        <p:spPr>
          <a:xfrm>
            <a:off x="640080" y="5377680"/>
            <a:ext cx="45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5c518"/>
                </a:solidFill>
                <a:latin typeface="Calibri"/>
              </a:rPr>
              <a:t>05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Box 29"/>
          <p:cNvSpPr/>
          <p:nvPr/>
        </p:nvSpPr>
        <p:spPr>
          <a:xfrm>
            <a:off x="1188720" y="5339520"/>
            <a:ext cx="3474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Longitudinal mood tracking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0"/>
          <p:cNvSpPr/>
          <p:nvPr/>
        </p:nvSpPr>
        <p:spPr>
          <a:xfrm>
            <a:off x="4937760" y="5339520"/>
            <a:ext cx="6583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Allow returning users to track emotional trends over time — turning a classifier into a wellness journal.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a0a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9" name="Rectangle 2"/>
          <p:cNvSpPr/>
          <p:nvPr/>
        </p:nvSpPr>
        <p:spPr>
          <a:xfrm>
            <a:off x="0" y="0"/>
            <a:ext cx="12188520" cy="5436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Rectangle 3"/>
          <p:cNvSpPr/>
          <p:nvPr/>
        </p:nvSpPr>
        <p:spPr>
          <a:xfrm>
            <a:off x="0" y="6803280"/>
            <a:ext cx="12188520" cy="5436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914400" y="548640"/>
            <a:ext cx="10058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200" spc="-1" strike="noStrike">
                <a:solidFill>
                  <a:srgbClr val="4f46e5"/>
                </a:solidFill>
                <a:latin typeface="Calibri"/>
              </a:rPr>
              <a:t>Conclusion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Rectangle 5"/>
          <p:cNvSpPr/>
          <p:nvPr/>
        </p:nvSpPr>
        <p:spPr>
          <a:xfrm>
            <a:off x="457200" y="1371600"/>
            <a:ext cx="11246760" cy="25200"/>
          </a:xfrm>
          <a:prstGeom prst="rect">
            <a:avLst/>
          </a:prstGeom>
          <a:solidFill>
            <a:srgbClr val="7f7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Rectangle 6"/>
          <p:cNvSpPr/>
          <p:nvPr/>
        </p:nvSpPr>
        <p:spPr>
          <a:xfrm>
            <a:off x="640080" y="1645920"/>
            <a:ext cx="5211720" cy="1279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Rectangle 7"/>
          <p:cNvSpPr/>
          <p:nvPr/>
        </p:nvSpPr>
        <p:spPr>
          <a:xfrm>
            <a:off x="640080" y="1645920"/>
            <a:ext cx="72720" cy="12798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5" name="TextBox 8"/>
          <p:cNvSpPr/>
          <p:nvPr/>
        </p:nvSpPr>
        <p:spPr>
          <a:xfrm>
            <a:off x="822960" y="1737360"/>
            <a:ext cx="4754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4f46e5"/>
                </a:solidFill>
                <a:latin typeface="Calibri"/>
              </a:rPr>
              <a:t>69.3%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TextBox 9"/>
          <p:cNvSpPr/>
          <p:nvPr/>
        </p:nvSpPr>
        <p:spPr>
          <a:xfrm>
            <a:off x="822960" y="2304360"/>
            <a:ext cx="475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Macro F1 — competitive for a classical NLP model on 3-class mental health data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ectangle 10"/>
          <p:cNvSpPr/>
          <p:nvPr/>
        </p:nvSpPr>
        <p:spPr>
          <a:xfrm>
            <a:off x="6400800" y="1645920"/>
            <a:ext cx="5211720" cy="1279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Rectangle 11"/>
          <p:cNvSpPr/>
          <p:nvPr/>
        </p:nvSpPr>
        <p:spPr>
          <a:xfrm>
            <a:off x="6400800" y="1645920"/>
            <a:ext cx="72720" cy="12798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9" name="TextBox 12"/>
          <p:cNvSpPr/>
          <p:nvPr/>
        </p:nvSpPr>
        <p:spPr>
          <a:xfrm>
            <a:off x="6583680" y="1737360"/>
            <a:ext cx="4754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4f46e5"/>
                </a:solidFill>
                <a:latin typeface="Calibri"/>
              </a:rPr>
              <a:t>620 KB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Box 13"/>
          <p:cNvSpPr/>
          <p:nvPr/>
        </p:nvSpPr>
        <p:spPr>
          <a:xfrm>
            <a:off x="6583680" y="2304360"/>
            <a:ext cx="4754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Total model size — deployable on serverless without GPU infrastructure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Rectangle 14"/>
          <p:cNvSpPr/>
          <p:nvPr/>
        </p:nvSpPr>
        <p:spPr>
          <a:xfrm>
            <a:off x="640080" y="3200400"/>
            <a:ext cx="5211720" cy="1279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2" name="Rectangle 15"/>
          <p:cNvSpPr/>
          <p:nvPr/>
        </p:nvSpPr>
        <p:spPr>
          <a:xfrm>
            <a:off x="640080" y="3200400"/>
            <a:ext cx="72720" cy="12798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16"/>
          <p:cNvSpPr/>
          <p:nvPr/>
        </p:nvSpPr>
        <p:spPr>
          <a:xfrm>
            <a:off x="822960" y="3291840"/>
            <a:ext cx="4754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4f46e5"/>
                </a:solidFill>
                <a:latin typeface="Calibri"/>
              </a:rPr>
              <a:t>&lt; 1s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TextBox 17"/>
          <p:cNvSpPr/>
          <p:nvPr/>
        </p:nvSpPr>
        <p:spPr>
          <a:xfrm>
            <a:off x="822960" y="3858840"/>
            <a:ext cx="4754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Inference latency — real-time predictions in the browser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Rectangle 18"/>
          <p:cNvSpPr/>
          <p:nvPr/>
        </p:nvSpPr>
        <p:spPr>
          <a:xfrm>
            <a:off x="6400800" y="3200400"/>
            <a:ext cx="5211720" cy="1279800"/>
          </a:xfrm>
          <a:prstGeom prst="rect">
            <a:avLst/>
          </a:prstGeom>
          <a:solidFill>
            <a:srgbClr val="1313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Rectangle 19"/>
          <p:cNvSpPr/>
          <p:nvPr/>
        </p:nvSpPr>
        <p:spPr>
          <a:xfrm>
            <a:off x="6400800" y="3200400"/>
            <a:ext cx="72720" cy="1279800"/>
          </a:xfrm>
          <a:prstGeom prst="rect">
            <a:avLst/>
          </a:prstGeom>
          <a:solidFill>
            <a:srgbClr val="4f46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TextBox 20"/>
          <p:cNvSpPr/>
          <p:nvPr/>
        </p:nvSpPr>
        <p:spPr>
          <a:xfrm>
            <a:off x="6583680" y="3291840"/>
            <a:ext cx="47545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4f46e5"/>
                </a:solidFill>
                <a:latin typeface="Calibri"/>
              </a:rPr>
              <a:t>Open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Box 21"/>
          <p:cNvSpPr/>
          <p:nvPr/>
        </p:nvSpPr>
        <p:spPr>
          <a:xfrm>
            <a:off x="6583680" y="3858840"/>
            <a:ext cx="4754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c8c8d8"/>
                </a:solidFill>
                <a:latin typeface="Calibri"/>
              </a:rPr>
              <a:t>Fully open-source at github.com/hashirazizmalik/safespace-ai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Box 22"/>
          <p:cNvSpPr/>
          <p:nvPr/>
        </p:nvSpPr>
        <p:spPr>
          <a:xfrm>
            <a:off x="914400" y="4754880"/>
            <a:ext cx="100580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i="1" lang="en-US" sz="2000" spc="-1" strike="noStrike">
                <a:solidFill>
                  <a:srgbClr val="c8c8d8"/>
                </a:solidFill>
                <a:latin typeface="Calibri"/>
              </a:rPr>
              <a:t>"Technology cannot replace human connection —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i="1" lang="en-US" sz="2000" spc="-1" strike="noStrike">
                <a:solidFill>
                  <a:srgbClr val="c8c8d8"/>
                </a:solidFill>
                <a:latin typeface="Calibri"/>
              </a:rPr>
              <a:t>but it can open the door."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23"/>
          <p:cNvSpPr/>
          <p:nvPr/>
        </p:nvSpPr>
        <p:spPr>
          <a:xfrm>
            <a:off x="914400" y="5943600"/>
            <a:ext cx="10058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55570"/>
                </a:solidFill>
                <a:latin typeface="Calibri"/>
              </a:rPr>
              <a:t>Hashir Aziz Malik  |  BS Data Science  |  IMSciences  |  bsds.235301955@imsciences.edu.pk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2026-05-15T20:17:28Z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